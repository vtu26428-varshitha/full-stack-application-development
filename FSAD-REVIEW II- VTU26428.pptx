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0" r:id="rId15"/>
    <p:sldId id="265" r:id="rId16"/>
  </p:sldIdLst>
  <p:sldSz cx="18288000" cy="10287000"/>
  <p:notesSz cx="6858000" cy="9144000"/>
  <p:embeddedFontLst>
    <p:embeddedFont>
      <p:font typeface="Bookman Old Style" panose="02050604050505020204" pitchFamily="18" charset="0"/>
      <p:regular r:id="rId17"/>
      <p:bold r:id="rId18"/>
      <p:italic r:id="rId19"/>
      <p:boldItalic r:id="rId20"/>
    </p:embeddedFont>
    <p:embeddedFont>
      <p:font typeface="Cambria" panose="02040503050406030204" pitchFamily="18" charset="0"/>
      <p:regular r:id="rId21"/>
      <p:bold r:id="rId22"/>
      <p:italic r:id="rId23"/>
      <p:boldItalic r:id="rId24"/>
    </p:embeddedFont>
    <p:embeddedFont>
      <p:font typeface="Gotham" panose="020B0604020202020204" charset="0"/>
      <p:regular r:id="rId25"/>
    </p:embeddedFont>
    <p:embeddedFont>
      <p:font typeface="Gotham Bold Italics" panose="020B060402020202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589" autoAdjust="0"/>
  </p:normalViewPr>
  <p:slideViewPr>
    <p:cSldViewPr>
      <p:cViewPr>
        <p:scale>
          <a:sx n="45" d="100"/>
          <a:sy n="45" d="100"/>
        </p:scale>
        <p:origin x="259" y="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2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Date:20/04/2026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328103" y="6019895"/>
            <a:ext cx="1578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428361" y="7800539"/>
            <a:ext cx="11037711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THOKALA VARSHITHA CHOWDARY – VTU26428 – 23UECS0568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1762088" y="7818586"/>
            <a:ext cx="6097550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Dr.HEMAMALINI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Assistant Professor(Senior Grade)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8-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Decent Work and Economic Growth</a:t>
            </a:r>
            <a:endParaRPr lang="en-IN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42900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209800" y="1638300"/>
            <a:ext cx="1508232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Job Portal is a web-based application that connects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register, login, and search for jobs easily.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Employers can post job openings and manage applications.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in job searching.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for job opportunities.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and freshers find suitable jobs.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efficiency.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Spring Boot and MySQL.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50">
            <a:extLst>
              <a:ext uri="{FF2B5EF4-FFF2-40B4-BE49-F238E27FC236}">
                <a16:creationId xmlns:a16="http://schemas.microsoft.com/office/drawing/2014/main" id="{D9047F7D-3197-ED64-41B7-A880BD00A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420" y="1380388"/>
            <a:ext cx="10851432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Ø"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job search process is slow and inefficient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a centralized platform for job listings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tracking job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systems lead to errors and delays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real-time job updates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seekers struggle to find relevant opportunities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Employers face difficulty in managing applications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Need for an automated and user-friendly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960143" y="1637645"/>
            <a:ext cx="1335327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Job Portal system for job seekers and employers. </a:t>
            </a:r>
          </a:p>
          <a:p>
            <a:pPr marL="571500" indent="-571500" algn="just">
              <a:buFont typeface="Wingdings" pitchFamily="2" charset="2"/>
              <a:buChar char="Ø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system for job posting, searching, and application management. </a:t>
            </a: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Ø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Provides online job search functionality.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Users can register and login securely.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Employers can post and manage jobs.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Job seekers can apply for jobs easily.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Stores data in a centralized database.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Reduces manual work and errors.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Improves speed and efficiency. 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/>
              <a:t>User-friendly interface for easy navigation. </a:t>
            </a:r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US" sz="2800" dirty="0"/>
          </a:p>
          <a:p>
            <a:pPr marL="457200" indent="-457200" algn="just">
              <a:buFont typeface="Wingdings" pitchFamily="2" charset="2"/>
              <a:buChar char="Ø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E58095-818F-C12D-EF94-DAC10201F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9414" y="2247900"/>
            <a:ext cx="14069084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8B7E88-B1D1-B2AD-BD15-7E4215BC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430484"/>
            <a:ext cx="11909161" cy="5776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2209800" y="1638300"/>
            <a:ext cx="15082325" cy="1074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Frontend:</a:t>
            </a:r>
            <a:r>
              <a:rPr lang="en-US" sz="3200" dirty="0"/>
              <a:t> HTML5, CSS3, JavaScript, and Bootstrap for building a responsive and interactive user interface.</a:t>
            </a:r>
          </a:p>
          <a:p>
            <a:r>
              <a:rPr lang="en-US" sz="3200" b="1" dirty="0"/>
              <a:t>Backend:</a:t>
            </a:r>
            <a:r>
              <a:rPr lang="en-US" sz="3200" dirty="0"/>
              <a:t> Java with Spring Boot framework to handle server-side logic, REST APIs, and business operations.</a:t>
            </a:r>
          </a:p>
          <a:p>
            <a:r>
              <a:rPr lang="en-US" sz="3200" b="1" dirty="0"/>
              <a:t>Database:</a:t>
            </a:r>
            <a:r>
              <a:rPr lang="en-US" sz="3200" dirty="0"/>
              <a:t> MySQL (or PostgreSQL) for storing application data such as user details and records securely.</a:t>
            </a:r>
          </a:p>
          <a:p>
            <a:r>
              <a:rPr lang="en-US" sz="3200" b="1" dirty="0"/>
              <a:t>Tools:</a:t>
            </a:r>
            <a:r>
              <a:rPr lang="en-US" sz="3200" dirty="0"/>
              <a:t> Eclipse for development, Postman for API testing, and Maven/Gradle for project build management.</a:t>
            </a:r>
          </a:p>
          <a:p>
            <a:r>
              <a:rPr lang="en-IN" sz="3200" b="1" dirty="0"/>
              <a:t>Hardware/Software Requirements:</a:t>
            </a:r>
            <a:br>
              <a:rPr lang="en-IN" sz="3200" dirty="0"/>
            </a:br>
            <a:r>
              <a:rPr lang="en-IN" sz="3200" dirty="0"/>
              <a:t>• </a:t>
            </a:r>
            <a:r>
              <a:rPr lang="en-IN" sz="3200" b="1" dirty="0"/>
              <a:t>Hardware:</a:t>
            </a:r>
            <a:r>
              <a:rPr lang="en-IN" sz="3200" dirty="0"/>
              <a:t> Minimum 4GB RAM, Dual-core Processor, and 20GB available disk space.</a:t>
            </a:r>
            <a:br>
              <a:rPr lang="en-IN" sz="3200" dirty="0"/>
            </a:br>
            <a:r>
              <a:rPr lang="en-IN" sz="3200" dirty="0"/>
              <a:t>• </a:t>
            </a:r>
            <a:r>
              <a:rPr lang="en-IN" sz="3200" b="1" dirty="0"/>
              <a:t>Software:</a:t>
            </a:r>
            <a:r>
              <a:rPr lang="en-IN" sz="3200" dirty="0"/>
              <a:t> Windows 10/11 or Linux OS, Java JDK 8+, Spring Boot, and any modern web browser.</a:t>
            </a:r>
            <a:endParaRPr lang="en-US" sz="32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09800" y="1638300"/>
            <a:ext cx="15082325" cy="9140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Module 1: User Management</a:t>
            </a:r>
            <a:br>
              <a:rPr lang="en-US" sz="2800" dirty="0"/>
            </a:br>
            <a:r>
              <a:rPr lang="en-US" sz="2800" dirty="0"/>
              <a:t>Handles user registration and secure login authentication.</a:t>
            </a:r>
            <a:br>
              <a:rPr lang="en-US" sz="2800" dirty="0"/>
            </a:br>
            <a:r>
              <a:rPr lang="en-US" sz="2800" dirty="0"/>
              <a:t>Manages user profiles and account details.</a:t>
            </a:r>
            <a:br>
              <a:rPr lang="en-US" sz="2800" dirty="0"/>
            </a:br>
            <a:r>
              <a:rPr lang="en-US" sz="2800" dirty="0"/>
              <a:t>Implements password encryption and security features.</a:t>
            </a:r>
            <a:br>
              <a:rPr lang="en-US" sz="2800" dirty="0"/>
            </a:br>
            <a:r>
              <a:rPr lang="en-US" sz="2800" dirty="0"/>
              <a:t>Supports role-based access (admin/user).</a:t>
            </a:r>
          </a:p>
          <a:p>
            <a:r>
              <a:rPr lang="en-US" sz="2800" b="1" dirty="0"/>
              <a:t>Module 2: Quiz/Test Management</a:t>
            </a:r>
            <a:br>
              <a:rPr lang="en-US" sz="2800" dirty="0"/>
            </a:br>
            <a:r>
              <a:rPr lang="en-US" sz="2800" dirty="0"/>
              <a:t>Allows creation and management of quizzes and question banks.</a:t>
            </a:r>
            <a:br>
              <a:rPr lang="en-US" sz="2800" dirty="0"/>
            </a:br>
            <a:r>
              <a:rPr lang="en-US" sz="2800" dirty="0"/>
              <a:t>Handles user participation and submission of tests.</a:t>
            </a:r>
            <a:br>
              <a:rPr lang="en-US" sz="2800" dirty="0"/>
            </a:br>
            <a:r>
              <a:rPr lang="en-US" sz="2800" dirty="0"/>
              <a:t>Supports different question types (MCQ, descriptive).</a:t>
            </a:r>
            <a:br>
              <a:rPr lang="en-US" sz="2800" dirty="0"/>
            </a:br>
            <a:r>
              <a:rPr lang="en-US" sz="2800" dirty="0"/>
              <a:t>Manages timing and auto-submission of tests.</a:t>
            </a:r>
          </a:p>
          <a:p>
            <a:r>
              <a:rPr lang="en-US" sz="2800" b="1" dirty="0"/>
              <a:t>Module 3: Database Management</a:t>
            </a:r>
            <a:br>
              <a:rPr lang="en-US" sz="2800" dirty="0"/>
            </a:br>
            <a:r>
              <a:rPr lang="en-US" sz="2800" dirty="0"/>
              <a:t>Stores user data, questions, and test results securely.</a:t>
            </a:r>
            <a:br>
              <a:rPr lang="en-US" sz="2800" dirty="0"/>
            </a:br>
            <a:r>
              <a:rPr lang="en-US" sz="2800" dirty="0"/>
              <a:t>Retrieves and updates data while maintaining integrity.</a:t>
            </a:r>
            <a:br>
              <a:rPr lang="en-US" sz="2800" dirty="0"/>
            </a:br>
            <a:r>
              <a:rPr lang="en-US" sz="2800" dirty="0"/>
              <a:t>Performs backup and recovery of important data.</a:t>
            </a:r>
            <a:br>
              <a:rPr lang="en-US" sz="2800" dirty="0"/>
            </a:br>
            <a:r>
              <a:rPr lang="en-US" sz="2800" dirty="0"/>
              <a:t>Optimizes queries for faster performance.</a:t>
            </a:r>
          </a:p>
          <a:p>
            <a:r>
              <a:rPr lang="en-US" sz="2800" b="1" dirty="0"/>
              <a:t>Module 4: Result &amp; Analytics</a:t>
            </a:r>
            <a:br>
              <a:rPr lang="en-US" sz="2800" dirty="0"/>
            </a:br>
            <a:r>
              <a:rPr lang="en-US" sz="2800" dirty="0"/>
              <a:t>Calculates scores and displays test results.</a:t>
            </a:r>
            <a:br>
              <a:rPr lang="en-US" sz="2800" dirty="0"/>
            </a:br>
            <a:r>
              <a:rPr lang="en-US" sz="2800" dirty="0"/>
              <a:t>Provides basic performance analysis and reports.</a:t>
            </a:r>
            <a:br>
              <a:rPr lang="en-US" sz="2800" dirty="0"/>
            </a:br>
            <a:r>
              <a:rPr lang="en-US" sz="2800" dirty="0"/>
              <a:t>Tracks user progress over multiple tests.</a:t>
            </a:r>
            <a:br>
              <a:rPr lang="en-US" sz="2800" dirty="0"/>
            </a:br>
            <a:r>
              <a:rPr lang="en-US" sz="2800" dirty="0"/>
              <a:t>Generates graphical insights for better understanding</a:t>
            </a: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C6A4DA-6D4B-3E6A-CF92-E543DD7AFBF5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8C881-7EE8-13DF-AC5D-99A6A61F7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007" y="1013580"/>
            <a:ext cx="9357441" cy="52264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D435D2-F2E6-5884-B990-861BAE9193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4826" y="1091224"/>
            <a:ext cx="5687219" cy="783064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62B1EFF-DA27-4B57-230D-07F00CD887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349" y="5599716"/>
            <a:ext cx="4953691" cy="428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92156C-4F57-DEB6-50B7-C7F3B67912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0356" y="1330421"/>
            <a:ext cx="8327844" cy="41940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EC4F8B-0AAC-A65F-0695-404A08AB0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0679" y="4752378"/>
            <a:ext cx="9238721" cy="5191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C0EA81E-D408-1A06-6895-1BF3CA09E497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4B248D-4683-FFD0-06DF-4F5157E8A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569" y="1142442"/>
            <a:ext cx="8154432" cy="441348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34EE643-8A46-475F-D617-C086C86C42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2657" y="5651002"/>
            <a:ext cx="8915400" cy="410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402236" y="163205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1A1FDE-E3AB-682A-64B7-DA145F23EB91}"/>
              </a:ext>
            </a:extLst>
          </p:cNvPr>
          <p:cNvSpPr txBox="1"/>
          <p:nvPr/>
        </p:nvSpPr>
        <p:spPr>
          <a:xfrm>
            <a:off x="2209800" y="1638300"/>
            <a:ext cx="15082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861510-4AA1-8AB0-687E-16EDA0C8A3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082" y="1638300"/>
            <a:ext cx="14681796" cy="783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A15BE3-7334-5EC1-EF98-754168EDFC71}"/>
              </a:ext>
            </a:extLst>
          </p:cNvPr>
          <p:cNvSpPr txBox="1"/>
          <p:nvPr/>
        </p:nvSpPr>
        <p:spPr>
          <a:xfrm>
            <a:off x="2450786" y="2129579"/>
            <a:ext cx="1404578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Advantages</a:t>
            </a:r>
          </a:p>
          <a:p>
            <a:pPr>
              <a:buNone/>
            </a:pPr>
            <a:r>
              <a:rPr lang="en-US" sz="2400" dirty="0"/>
              <a:t>• Provides easy and quick access to quizzes/tests from anywhere.</a:t>
            </a:r>
            <a:br>
              <a:rPr lang="en-US" sz="2400" dirty="0"/>
            </a:br>
            <a:r>
              <a:rPr lang="en-US" sz="2400" dirty="0"/>
              <a:t>• Reduces manual work and saves time in evaluation.</a:t>
            </a:r>
            <a:br>
              <a:rPr lang="en-US" sz="2400" dirty="0"/>
            </a:br>
            <a:r>
              <a:rPr lang="en-US" sz="2400" dirty="0"/>
              <a:t>• Ensures secure data storage and user authentication.</a:t>
            </a:r>
            <a:br>
              <a:rPr lang="en-US" sz="2400" dirty="0"/>
            </a:br>
            <a:r>
              <a:rPr lang="en-US" sz="2400" dirty="0"/>
              <a:t>• Gives instant results and performance analysis.</a:t>
            </a:r>
            <a:br>
              <a:rPr lang="en-US" sz="2400" dirty="0"/>
            </a:br>
            <a:r>
              <a:rPr lang="en-US" sz="2400" dirty="0"/>
              <a:t>• Scalable system that can handle multiple users simultaneously.</a:t>
            </a:r>
            <a:br>
              <a:rPr lang="en-US" sz="2400" dirty="0"/>
            </a:br>
            <a:r>
              <a:rPr lang="en-US" sz="2400" dirty="0"/>
              <a:t>• Improves user experience with a responsive interface.</a:t>
            </a:r>
          </a:p>
          <a:p>
            <a:pPr>
              <a:buNone/>
            </a:pPr>
            <a:br>
              <a:rPr lang="en-US" sz="2400" dirty="0"/>
            </a:br>
            <a:endParaRPr lang="en-US" sz="2400" dirty="0"/>
          </a:p>
          <a:p>
            <a:pPr>
              <a:buNone/>
            </a:pPr>
            <a:r>
              <a:rPr lang="en-US" sz="2400" b="1" dirty="0"/>
              <a:t>Limitations</a:t>
            </a:r>
          </a:p>
          <a:p>
            <a:pPr>
              <a:buNone/>
            </a:pPr>
            <a:r>
              <a:rPr lang="en-US" sz="2400" dirty="0"/>
              <a:t>• Requires a stable internet connection to function properly.</a:t>
            </a:r>
            <a:br>
              <a:rPr lang="en-US" sz="2400" dirty="0"/>
            </a:br>
            <a:r>
              <a:rPr lang="en-US" sz="2400" dirty="0"/>
              <a:t>• Initial setup and development can be time-consuming.</a:t>
            </a:r>
            <a:br>
              <a:rPr lang="en-US" sz="2400" dirty="0"/>
            </a:br>
            <a:r>
              <a:rPr lang="en-US" sz="2400" dirty="0"/>
              <a:t>• Security risks if not properly implemented (data breaches).</a:t>
            </a:r>
            <a:br>
              <a:rPr lang="en-US" sz="2400" dirty="0"/>
            </a:br>
            <a:r>
              <a:rPr lang="en-US" sz="2400" dirty="0"/>
              <a:t>• Limited offline functionality.</a:t>
            </a:r>
            <a:br>
              <a:rPr lang="en-US" sz="2400" dirty="0"/>
            </a:br>
            <a:r>
              <a:rPr lang="en-US" sz="2400" dirty="0"/>
              <a:t>• Performance may decrease with very high user load if not optimized.</a:t>
            </a:r>
            <a:br>
              <a:rPr lang="en-US" sz="2400" dirty="0"/>
            </a:br>
            <a:r>
              <a:rPr lang="en-US" sz="2400" dirty="0"/>
              <a:t>• Requires regular maintenance and updates.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854</Words>
  <Application>Microsoft Office PowerPoint</Application>
  <PresentationFormat>Custom</PresentationFormat>
  <Paragraphs>239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Times New Roman</vt:lpstr>
      <vt:lpstr>Bookman Old Style</vt:lpstr>
      <vt:lpstr>Calibri</vt:lpstr>
      <vt:lpstr>Wingdings</vt:lpstr>
      <vt:lpstr>Gotham Bold Italics</vt:lpstr>
      <vt:lpstr>Cambria</vt:lpstr>
      <vt:lpstr>Arial</vt:lpstr>
      <vt:lpstr>Gotham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OORRJITHA</dc:creator>
  <cp:lastModifiedBy>Varshitha Chowdary Thokala</cp:lastModifiedBy>
  <cp:revision>15</cp:revision>
  <dcterms:created xsi:type="dcterms:W3CDTF">2006-08-16T00:00:00Z</dcterms:created>
  <dcterms:modified xsi:type="dcterms:W3CDTF">2026-05-05T18:33:02Z</dcterms:modified>
  <dc:identifier>DAHCaYqJ9OU</dc:identifier>
</cp:coreProperties>
</file>